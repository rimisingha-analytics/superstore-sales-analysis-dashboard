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drawings/drawing1.xml" ContentType="application/vnd.openxmlformats-officedocument.drawingml.chartshape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B2071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B2-4099-8324-9B293C9A9A0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B2-4099-8324-9B293C9A9A0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B2-4099-8324-9B293C9A9A03}"/>
              </c:ext>
            </c:extLst>
          </c:dPt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741999</c:v>
                </c:pt>
                <c:pt idx="1">
                  <c:v>705422</c:v>
                </c:pt>
                <c:pt idx="2">
                  <c:v>836154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B2-4099-8324-9B293C9A9A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237-4E19-9044-F00DB992BCEA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237-4E19-9044-F00DB992BCE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237-4E19-9044-F00DB992BCE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237-4E19-9044-F00DB992BCEA}"/>
              </c:ext>
            </c:extLst>
          </c:dPt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501240</c:v>
                </c:pt>
                <c:pt idx="1">
                  <c:v>678781</c:v>
                </c:pt>
                <c:pt idx="2">
                  <c:v>391722</c:v>
                </c:pt>
                <c:pt idx="3">
                  <c:v>725458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237-4E19-9044-F00DB992BC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>
                  <a:tint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531-4036-BE7D-16AFEE3A52E9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531-4036-BE7D-16AFEE3A52E9}"/>
              </c:ext>
            </c:extLst>
          </c:dPt>
          <c:dPt>
            <c:idx val="2"/>
            <c:bubble3D val="0"/>
            <c:spPr>
              <a:solidFill>
                <a:schemeClr val="accent1">
                  <a:shade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531-4036-BE7D-16AFEE3A52E9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531-4036-BE7D-16AFEE3A52E9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531-4036-BE7D-16AFEE3A52E9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531-4036-BE7D-16AFEE3A52E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rgbClr val="000000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1161401</c:v>
                </c:pt>
                <c:pt idx="1">
                  <c:v>706146</c:v>
                </c:pt>
                <c:pt idx="2">
                  <c:v>429653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31-4036-BE7D-16AFEE3A52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AAAAAA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1E1E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A0B-44C0-8FFC-C72D2662B05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A0B-44C0-8FFC-C72D2662B05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A0B-44C0-8FFC-C72D2662B05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A0B-44C0-8FFC-C72D2662B05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A0B-44C0-8FFC-C72D2662B05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A0B-44C0-8FFC-C72D2662B055}"/>
              </c:ext>
            </c:extLst>
          </c:dPt>
          <c:cat>
            <c:strRef>
              <c:f>Sheet1!$A$2:$A$7</c:f>
              <c:strCache>
                <c:ptCount val="6"/>
                <c:pt idx="0">
                  <c:v>Phones</c:v>
                </c:pt>
                <c:pt idx="1">
                  <c:v>Chairs</c:v>
                </c:pt>
                <c:pt idx="2">
                  <c:v>Storage</c:v>
                </c:pt>
                <c:pt idx="3">
                  <c:v>Tables</c:v>
                </c:pt>
                <c:pt idx="4">
                  <c:v>Binders</c:v>
                </c:pt>
                <c:pt idx="5">
                  <c:v>Machines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330007</c:v>
                </c:pt>
                <c:pt idx="1">
                  <c:v>328449</c:v>
                </c:pt>
                <c:pt idx="2">
                  <c:v>223844</c:v>
                </c:pt>
                <c:pt idx="3">
                  <c:v>206966</c:v>
                </c:pt>
                <c:pt idx="4">
                  <c:v>203413</c:v>
                </c:pt>
                <c:pt idx="5">
                  <c:v>189239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A0B-44C0-8FFC-C72D2662B0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AAAAAA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AAAAAA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84175</c:v>
                </c:pt>
                <c:pt idx="1">
                  <c:v>470533</c:v>
                </c:pt>
                <c:pt idx="2">
                  <c:v>608473</c:v>
                </c:pt>
                <c:pt idx="3">
                  <c:v>733215</c:v>
                </c:pt>
                <c:pt idx="4">
                  <c:v>750000</c:v>
                </c:pt>
                <c:pt idx="5">
                  <c:v>610000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C31-4B6D-8E93-6CECE435C6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AAAAAA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AAAAAA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28126233-A1AB-155E-BFCB-665989128F09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858693" cy="4182059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792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8B46A-B1A0-ADF3-42EA-4F34C46B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ECFE0-B0CF-D37C-819D-457E22D10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CF93C-4148-FF08-DB64-D10C91DB5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D028F-F4ED-EEE5-1DED-11C4381AF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29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nkedin.com/in/rimi-singha-3093b532b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rimi.singha01@gmail.com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79476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57889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</a:t>
            </a:r>
            <a:endParaRPr lang="en-US" sz="4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NumPy  •  Matplotlib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A06AF1-7478-8013-4DBA-2C2203CC0355}"/>
              </a:ext>
            </a:extLst>
          </p:cNvPr>
          <p:cNvSpPr txBox="1"/>
          <p:nvPr/>
        </p:nvSpPr>
        <p:spPr>
          <a:xfrm>
            <a:off x="5976013" y="4532411"/>
            <a:ext cx="3003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mo Italics" panose="020B0604020202020204" charset="0"/>
                <a:ea typeface="Arimo Italics" panose="020B0604020202020204" charset="0"/>
                <a:cs typeface="Arimo Italics" panose="020B0604020202020204" charset="0"/>
              </a:rPr>
              <a:t>Presented by  --  Rimi Singha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5AADB9-0382-088F-3C0B-CDCF2D4AD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02" r="8694"/>
          <a:stretch>
            <a:fillRect/>
          </a:stretch>
        </p:blipFill>
        <p:spPr>
          <a:xfrm>
            <a:off x="5248919" y="647718"/>
            <a:ext cx="3730489" cy="2758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65760" y="1161288"/>
            <a:ext cx="438912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61288"/>
            <a:ext cx="438912" cy="34747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097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 &amp; Load Dataset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911096"/>
            <a:ext cx="438912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1109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8470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(Shape, Info, Stats)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660904"/>
            <a:ext cx="438912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66090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25968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Missing Values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410712"/>
            <a:ext cx="438912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410712"/>
            <a:ext cx="438912" cy="34747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33467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Analysis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438912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16052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40965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Region Analysis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1161288"/>
            <a:ext cx="438912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161288"/>
            <a:ext cx="438912" cy="34747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1097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Sub-Category Analysis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911096"/>
            <a:ext cx="438912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91109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18470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Analysis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2660904"/>
            <a:ext cx="438912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66090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85232" y="25968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Visualizations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54880" y="3410712"/>
            <a:ext cx="438912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410712"/>
            <a:ext cx="438912" cy="34747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85232" y="33467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Dashboard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54880" y="4160520"/>
            <a:ext cx="438912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416052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85232" y="40965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&amp; 2 — Import Libraries &amp; Load Dataset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 Libraries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931920" cy="118872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1188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393192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3730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</a:t>
            </a:r>
            <a:r>
              <a:rPr lang="en-US" sz="11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 </a:t>
            </a:r>
            <a:r>
              <a:rPr lang="en-US" sz="11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matplotlib.pyplot </a:t>
            </a:r>
            <a:r>
              <a:rPr lang="en-US" sz="11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0241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Load Dataset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4206240" cy="118872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71600"/>
            <a:ext cx="54864" cy="1188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1371600"/>
            <a:ext cx="420624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664208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pd.read_csv(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"superstore_sales_dataset.csv"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670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Display First &amp; Last Rows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3931920" cy="91440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017520"/>
            <a:ext cx="393192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0540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310128"/>
            <a:ext cx="3730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</a:t>
            </a: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</a:t>
            </a:r>
            <a:r>
              <a:rPr lang="en-US" sz="11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df.tail()   </a:t>
            </a: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</a:t>
            </a:r>
            <a:r>
              <a:rPr lang="en-US" sz="11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6700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Dataset Shape &amp; Columns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0" y="3017520"/>
            <a:ext cx="4206240" cy="91440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01752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3017520"/>
            <a:ext cx="420624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8" name="Text 26"/>
          <p:cNvSpPr/>
          <p:nvPr/>
        </p:nvSpPr>
        <p:spPr>
          <a:xfrm>
            <a:off x="4681728" y="30540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3310128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</a:t>
            </a: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x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 </a:t>
            </a: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names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041648"/>
            <a:ext cx="8503920" cy="42062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4041648"/>
            <a:ext cx="54864" cy="42062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0965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import libraries first — pandas, numpy, and matplotlib are the 3 core libraries for data analysis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Data Exploration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Dataset Info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931920" cy="59436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393192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3730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3931920" cy="1005840"/>
          </a:xfrm>
          <a:prstGeom prst="rect">
            <a:avLst/>
          </a:prstGeom>
          <a:solidFill>
            <a:srgbClr val="0D1A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11680"/>
            <a:ext cx="54864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665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304288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RangeIndex: 1000 entries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Columns: Order_ID, Sales,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Profit, Category, Region...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024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Summary Statistics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0" y="1371600"/>
            <a:ext cx="4206240" cy="59436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371600"/>
            <a:ext cx="54864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1371600"/>
            <a:ext cx="420624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166420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011680"/>
            <a:ext cx="4206240" cy="1005840"/>
          </a:xfrm>
          <a:prstGeom prst="rect">
            <a:avLst/>
          </a:prstGeom>
          <a:solidFill>
            <a:srgbClr val="0D1A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011680"/>
            <a:ext cx="54864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0665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230428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Sales: mean=229.8, max=22638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Profit: mean=28.6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Quantity: mean=3.8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127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Check &amp; Fill Missing Values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760" y="3474720"/>
            <a:ext cx="8412480" cy="91440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47472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474720"/>
            <a:ext cx="841248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35112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3767328"/>
            <a:ext cx="8211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        # Check missing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df.fillna(0, inplace=True) # Fill with 0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5760" y="4480560"/>
            <a:ext cx="8503920" cy="42062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4480560"/>
            <a:ext cx="54864" cy="42062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45354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df.fillna(0) fills numeric columns with 0 — use str.strip() to fix column name spacing issues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Sales &amp; Profit Analysis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Code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572000" cy="128016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12801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457200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4370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df["Sales"].sum()    # Total Sales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df["Profit"].sum()   # Total Profit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df["Quantity"].sum() # Total Quantity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df["Sales"].mean()   # Average Sales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1024128"/>
            <a:ext cx="1920240" cy="1280160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24128"/>
            <a:ext cx="192024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1847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95160" y="1024128"/>
            <a:ext cx="1920240" cy="1280160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024128"/>
            <a:ext cx="192024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95160" y="1847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1920240" cy="1280160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468880"/>
            <a:ext cx="192024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6334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38K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3291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95160" y="2468880"/>
            <a:ext cx="1920240" cy="1280160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95160" y="2468880"/>
            <a:ext cx="192024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26334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$229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95160" y="3291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 Value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by Category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3136392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136392"/>
            <a:ext cx="54864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3136392"/>
            <a:ext cx="841248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" y="31729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3429000"/>
            <a:ext cx="8211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df.groupby("Category")["Sales"].sum()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df.groupby("Category")["Profit"].sum()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8503920" cy="42062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" y="4069080"/>
            <a:ext cx="54864" cy="42062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12394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is the most powerful function — groups data by a column and applies aggregations like sum(), mean()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Category &amp; Region Analysis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931920" cy="146304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1463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393192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df.groupby("Category")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["Sales"].sum()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.plot(kind="bar")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plt.title("Sales by Category")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024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4206240" cy="146304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71600"/>
            <a:ext cx="54864" cy="1463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1371600"/>
            <a:ext cx="420624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664208"/>
            <a:ext cx="4005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df.groupby("Region")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["Sales"].sum()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.plot(kind="bar")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plt.title("Sales by Region")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2016963721"/>
              </p:ext>
            </p:extLst>
          </p:nvPr>
        </p:nvGraphicFramePr>
        <p:xfrm>
          <a:off x="365760" y="2926080"/>
          <a:ext cx="39319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"/>
          <p:cNvGraphicFramePr/>
          <p:nvPr>
            <p:extLst>
              <p:ext uri="{D42A27DB-BD31-4B8C-83A1-F6EECF244321}">
                <p14:modId xmlns:p14="http://schemas.microsoft.com/office/powerpoint/2010/main" val="1180777823"/>
              </p:ext>
            </p:extLst>
          </p:nvPr>
        </p:nvGraphicFramePr>
        <p:xfrm>
          <a:off x="4572000" y="2926080"/>
          <a:ext cx="42062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Segment &amp; Sub-Category Analysis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Sales (Pie Chart)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931920" cy="164592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1645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393192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37307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df.groupby("Segment")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["Sales"].sum()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.plot(kind="pie",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autopct="%1.1f%%")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plt.title("Sales by Segment")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024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Sub-Categories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4206240" cy="164592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71600"/>
            <a:ext cx="54864" cy="1645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1371600"/>
            <a:ext cx="420624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664208"/>
            <a:ext cx="4005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df.groupby("Sub_Category")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["Sales"].sum()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.sort_values(ascending=False)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.head(10)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.plot(kind="bar")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plt.title("Sales by Sub Category")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3089971899"/>
              </p:ext>
            </p:extLst>
          </p:nvPr>
        </p:nvGraphicFramePr>
        <p:xfrm>
          <a:off x="365760" y="3108960"/>
          <a:ext cx="39319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"/>
          <p:cNvGraphicFramePr/>
          <p:nvPr>
            <p:extLst>
              <p:ext uri="{D42A27DB-BD31-4B8C-83A1-F6EECF244321}">
                <p14:modId xmlns:p14="http://schemas.microsoft.com/office/powerpoint/2010/main" val="2994731129"/>
              </p:ext>
            </p:extLst>
          </p:nvPr>
        </p:nvGraphicFramePr>
        <p:xfrm>
          <a:off x="4572000" y="3108960"/>
          <a:ext cx="420624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Date &amp; Time Analysis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&amp; Extract Date Parts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164592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1645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841248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82113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 to datetime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df["Order_Date"] = pd.to_datetime(df["Order_Date"])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Year and Month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df["Year"]  = df["Order_Date"].dt.year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df["Month"] = df["Order_Date"].dt.month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&amp; Monthly Sales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3456432"/>
            <a:ext cx="393192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56432"/>
            <a:ext cx="54864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456432"/>
            <a:ext cx="393192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493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df.groupby("Year")["Sales"].sum()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df.groupby("Month")["Sales"].sum()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108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Trend Chart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4206240" cy="100584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456432"/>
            <a:ext cx="54864" cy="1005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456432"/>
            <a:ext cx="420624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3493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3749040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df.groupby("Year")["Sales"]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.sum().plot(kind="line")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plt.title("Yearly Sales Trend")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53712"/>
            <a:ext cx="8503920" cy="42062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4553712"/>
            <a:ext cx="54864" cy="42062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6085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pd.to_datetime() converts string dates to proper date format — always do this before extracting year/month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Charts &amp; Visualizations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Sales Trend (Line)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931920" cy="141732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1417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393192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3730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year_sales = df.groupby("Year")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["Sales"].sum()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year_sales.plot(kind="line")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plt.title("Yearly Sales Trend")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024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Profit (Scatter)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4206240" cy="141732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71600"/>
            <a:ext cx="54864" cy="1417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1371600"/>
            <a:ext cx="420624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664208"/>
            <a:ext cx="4005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df["Sales"],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df["Profit"]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plt.title("Sales vs Profit")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2629386993"/>
              </p:ext>
            </p:extLst>
          </p:nvPr>
        </p:nvGraphicFramePr>
        <p:xfrm>
          <a:off x="365760" y="2880360"/>
          <a:ext cx="39319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"/>
          <p:cNvGraphicFramePr/>
          <p:nvPr>
            <p:extLst>
              <p:ext uri="{D42A27DB-BD31-4B8C-83A1-F6EECF244321}">
                <p14:modId xmlns:p14="http://schemas.microsoft.com/office/powerpoint/2010/main" val="1199117810"/>
              </p:ext>
            </p:extLst>
          </p:nvPr>
        </p:nvGraphicFramePr>
        <p:xfrm>
          <a:off x="4572000" y="2880360"/>
          <a:ext cx="4206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Dashboard Code (Part 1: Prepare Data)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all aggregations before plotting: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256032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2560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841248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82113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 all sales data first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category_sales = df.groupby("Category")["Sales"].sum()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region_sales   = df.groupby("Region")["Sales"].sum()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segment_sales  = df.groupby("Segment")["Sales"].sum()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sub_sales      = df.groupby("Sub_Category")["Sales"]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.sum().sort_values(ascending=False)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df["Order_Date"] = pd.to_datetime(df["Order_Date"])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df["Year"]       = df["Order_Date"].dt.year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year_sales       = df.groupby("Year")["Sales"].sum()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041648"/>
            <a:ext cx="8503920" cy="42062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4041648"/>
            <a:ext cx="54864" cy="42062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965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prepare all aggregated data variables BEFORE creating the dashboard layout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Dashboard Code (Part 2: Plot &amp; Save)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2x3 grid and plot all 6 charts: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33756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3337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841248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8211312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axs = plt.subplots(2, </a:t>
            </a:r>
            <a:r>
              <a:rPr lang="en-US" sz="11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figsize=(18, </a:t>
            </a:r>
            <a:r>
              <a:rPr lang="en-US" sz="11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axs[0,0].bar(category_sales.index, category_sales.values)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axs[0,0].set_title("Sales by Category")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axs[0,1].bar(region_sales.index, region_sales.values)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axs[0,1].set_title("Sales by Region")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axs[0,2].pie(segment_sales.values, labels=segment_sales.index, autopct="%1.1f%%")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axs[0,2].set_title("Sales by Segment")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axs[1,0].bar(sub_sales.index[:8], sub_sales.values[:8])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axs[1,0].set_title("Top Sub Categories")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axs[1,0].tick_params(axis="x", rotation=45)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axs[1,1].plot(year_sales.index, year_sales.values)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axs[1,1].set_title("Yearly Sales Trend")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axs[1,2].scatter(df["Sales"], df["Profit"])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axs[1,2].set_title("Sales vs Profit")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fig.suptitle("Superstore Sales Dashboard", fontsize=18)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plt.savefig("superstore_dashboard.png", bbox_inches="tight", dpi=150)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4722876"/>
            <a:ext cx="82295" cy="420624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Save &amp; Export Results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Data to CSV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931920" cy="137160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393192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3730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cleaned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"exported_store_sales.csv",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024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Dashboard as Image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4206240" cy="173736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71600"/>
            <a:ext cx="54864" cy="1737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1371600"/>
            <a:ext cx="420624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4081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664208"/>
            <a:ext cx="4005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dashboard PNG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"superstore_dashboard.png",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bbox_inches="tight",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dpi=150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Working Directory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00400"/>
            <a:ext cx="54864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200400"/>
            <a:ext cx="841248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2369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493008"/>
            <a:ext cx="8211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os.getcwd()   </a:t>
            </a: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Shows: C:\Users\HP\python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8412480" cy="749808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60520"/>
            <a:ext cx="54864" cy="7498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06240"/>
            <a:ext cx="8092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savefig() must come BEFORE plt.show() — otherwise the saved PNG will be blank!</a:t>
            </a:r>
            <a:endParaRPr lang="en-US" sz="1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— Final Insights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14300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54864" cy="1143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05840"/>
            <a:ext cx="8412480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0424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298448"/>
            <a:ext cx="8211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Final Insights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print("Technology category has high sales.")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print("Some regions generate more profit.")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print("Sales trend increases over time.")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160520" cy="804672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475488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4963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generates highest sales revenue across all categories.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160520" cy="804672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86000"/>
            <a:ext cx="475488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4963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76088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Best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76088" y="26334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regions outperform Central and South in total sales value.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4160520" cy="804672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00400"/>
            <a:ext cx="475488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4107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32461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Trend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1248" y="35478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sales show consistent upward growth from 2018 to 2022.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200400"/>
            <a:ext cx="4160520" cy="804672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200400"/>
            <a:ext cx="475488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4107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76088" y="32461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76088" y="35478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accounts for ~50% of all sales — largest customer group.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114800"/>
            <a:ext cx="4160520" cy="804672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114800"/>
            <a:ext cx="475488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3251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" y="4160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#1 Product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41248" y="44622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and Chairs are the top two sub-categories by total sales.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4114800"/>
            <a:ext cx="4160520" cy="804672"/>
          </a:xfrm>
          <a:prstGeom prst="rect">
            <a:avLst/>
          </a:prstGeom>
          <a:solidFill>
            <a:srgbClr val="1E1E1E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4114800"/>
            <a:ext cx="475488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43251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76088" y="4160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vs Sales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276088" y="44622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high-sales transactions show negative profit — needs attention.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0BBA41-EAD7-7565-D79B-B99730736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90EEBD-5ED7-47FB-6BB4-509FDA0B9E3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12DDFA-9AB4-CD90-6238-86DA81754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1024128"/>
            <a:ext cx="8810626" cy="4024122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016A7492-E272-CB33-A018-1BB7C2A5DB14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CDD95396-C9AC-1F53-21CD-459A868F3D26}"/>
              </a:ext>
            </a:extLst>
          </p:cNvPr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549793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38399" y="3920490"/>
            <a:ext cx="9144000" cy="12573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384048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— Python Analysis</a:t>
            </a:r>
            <a:endParaRPr lang="en-US" sz="2200" dirty="0">
              <a:solidFill>
                <a:schemeClr val="accent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NumPy  •  Matplotlib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lnSpc>
                <a:spcPts val="2701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6294653977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97C86B6F-8C77-8885-41F2-81A92CF5379C}"/>
              </a:ext>
            </a:extLst>
          </p:cNvPr>
          <p:cNvSpPr txBox="1"/>
          <p:nvPr/>
        </p:nvSpPr>
        <p:spPr>
          <a:xfrm>
            <a:off x="4288528" y="4095352"/>
            <a:ext cx="1856573" cy="256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1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Berhampore ,West Bengal</a:t>
            </a:r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4F885968-02D7-15DF-FA70-C03FE81E287B}"/>
              </a:ext>
            </a:extLst>
          </p:cNvPr>
          <p:cNvSpPr/>
          <p:nvPr/>
        </p:nvSpPr>
        <p:spPr>
          <a:xfrm>
            <a:off x="1743173" y="4089372"/>
            <a:ext cx="288318" cy="288318"/>
          </a:xfrm>
          <a:custGeom>
            <a:avLst/>
            <a:gdLst/>
            <a:ahLst/>
            <a:cxnLst/>
            <a:rect l="l" t="t" r="r" b="b"/>
            <a:pathLst>
              <a:path w="288318" h="288318">
                <a:moveTo>
                  <a:pt x="0" y="0"/>
                </a:moveTo>
                <a:lnTo>
                  <a:pt x="288318" y="0"/>
                </a:lnTo>
                <a:lnTo>
                  <a:pt x="288318" y="288317"/>
                </a:lnTo>
                <a:lnTo>
                  <a:pt x="0" y="28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4AC65983-F2F2-F39E-F9F9-D86148B68528}"/>
              </a:ext>
            </a:extLst>
          </p:cNvPr>
          <p:cNvSpPr/>
          <p:nvPr/>
        </p:nvSpPr>
        <p:spPr>
          <a:xfrm>
            <a:off x="214202" y="4082514"/>
            <a:ext cx="288318" cy="288318"/>
          </a:xfrm>
          <a:custGeom>
            <a:avLst/>
            <a:gdLst/>
            <a:ahLst/>
            <a:cxnLst/>
            <a:rect l="l" t="t" r="r" b="b"/>
            <a:pathLst>
              <a:path w="288318" h="288318">
                <a:moveTo>
                  <a:pt x="0" y="0"/>
                </a:moveTo>
                <a:lnTo>
                  <a:pt x="288318" y="0"/>
                </a:lnTo>
                <a:lnTo>
                  <a:pt x="288318" y="288317"/>
                </a:lnTo>
                <a:lnTo>
                  <a:pt x="0" y="28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71A41E8A-B200-F0BE-7D31-7C89B8EAF103}"/>
              </a:ext>
            </a:extLst>
          </p:cNvPr>
          <p:cNvSpPr/>
          <p:nvPr/>
        </p:nvSpPr>
        <p:spPr>
          <a:xfrm>
            <a:off x="3948056" y="4097210"/>
            <a:ext cx="280480" cy="280480"/>
          </a:xfrm>
          <a:custGeom>
            <a:avLst/>
            <a:gdLst/>
            <a:ahLst/>
            <a:cxnLst/>
            <a:rect l="l" t="t" r="r" b="b"/>
            <a:pathLst>
              <a:path w="280480" h="280480">
                <a:moveTo>
                  <a:pt x="0" y="0"/>
                </a:moveTo>
                <a:lnTo>
                  <a:pt x="280480" y="0"/>
                </a:lnTo>
                <a:lnTo>
                  <a:pt x="280480" y="280480"/>
                </a:lnTo>
                <a:lnTo>
                  <a:pt x="0" y="280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C63465F4-6B60-0788-8E9F-0E68CF3602C3}"/>
              </a:ext>
            </a:extLst>
          </p:cNvPr>
          <p:cNvSpPr txBox="1"/>
          <p:nvPr/>
        </p:nvSpPr>
        <p:spPr>
          <a:xfrm>
            <a:off x="2122511" y="4045523"/>
            <a:ext cx="1821792" cy="294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1200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rimi.singha01@gmail.com</a:t>
            </a:r>
            <a:endParaRPr lang="en-US" sz="1200" dirty="0">
              <a:solidFill>
                <a:schemeClr val="bg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ADAC77B-1ABE-A6C9-6A3F-3718C371460D}"/>
              </a:ext>
            </a:extLst>
          </p:cNvPr>
          <p:cNvSpPr/>
          <p:nvPr/>
        </p:nvSpPr>
        <p:spPr>
          <a:xfrm>
            <a:off x="6145101" y="4132637"/>
            <a:ext cx="344225" cy="228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85467F1D-66BF-76BB-AFDC-8EE2A8C739BE}"/>
              </a:ext>
            </a:extLst>
          </p:cNvPr>
          <p:cNvSpPr/>
          <p:nvPr/>
        </p:nvSpPr>
        <p:spPr>
          <a:xfrm>
            <a:off x="6183500" y="4165393"/>
            <a:ext cx="280495" cy="166985"/>
          </a:xfrm>
          <a:custGeom>
            <a:avLst/>
            <a:gdLst/>
            <a:ahLst/>
            <a:cxnLst/>
            <a:rect l="l" t="t" r="r" b="b"/>
            <a:pathLst>
              <a:path w="421928" h="210964">
                <a:moveTo>
                  <a:pt x="0" y="0"/>
                </a:moveTo>
                <a:lnTo>
                  <a:pt x="421929" y="0"/>
                </a:lnTo>
                <a:lnTo>
                  <a:pt x="421929" y="210964"/>
                </a:lnTo>
                <a:lnTo>
                  <a:pt x="0" y="210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DE42732-DED5-AAC9-B2C1-B0CF79397DEC}"/>
              </a:ext>
            </a:extLst>
          </p:cNvPr>
          <p:cNvSpPr txBox="1"/>
          <p:nvPr/>
        </p:nvSpPr>
        <p:spPr>
          <a:xfrm>
            <a:off x="6527725" y="3989169"/>
            <a:ext cx="2616275" cy="362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  <a:spcBef>
                <a:spcPct val="0"/>
              </a:spcBef>
            </a:pPr>
            <a:r>
              <a:rPr lang="en-US" sz="1100" dirty="0">
                <a:solidFill>
                  <a:schemeClr val="bg1"/>
                </a:solidFill>
                <a:hlinkClick r:id="rId8" tooltip="www.linkedin.com/in/rimi-singha-3093b532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www.linkedin.com/in/rimi-singha-3093b532b</a:t>
            </a:r>
            <a:endParaRPr lang="en-US" sz="1400" b="1" u="none" strike="noStrike" dirty="0">
              <a:solidFill>
                <a:schemeClr val="bg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1615</Words>
  <Application>Microsoft Office PowerPoint</Application>
  <PresentationFormat>On-screen Show (16:9)</PresentationFormat>
  <Paragraphs>260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Arimo</vt:lpstr>
      <vt:lpstr>Arimo Italics</vt:lpstr>
      <vt:lpstr>Calibri</vt:lpstr>
      <vt:lpstr>Courier New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Python Analysis</dc:title>
  <dc:subject>PptxGenJS Presentation</dc:subject>
  <dc:creator>PptxGenJS</dc:creator>
  <cp:lastModifiedBy>Rimi Singha</cp:lastModifiedBy>
  <cp:revision>3</cp:revision>
  <dcterms:created xsi:type="dcterms:W3CDTF">2026-04-11T12:22:10Z</dcterms:created>
  <dcterms:modified xsi:type="dcterms:W3CDTF">2026-04-11T19:41:52Z</dcterms:modified>
</cp:coreProperties>
</file>